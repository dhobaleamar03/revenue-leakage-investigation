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640080"/>
            <a:ext cx="18288" cy="5257800"/>
          </a:xfrm>
          <a:prstGeom prst="rect">
            <a:avLst/>
          </a:prstGeom>
          <a:solidFill>
            <a:srgbClr val="303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91272" y="640080"/>
            <a:ext cx="18288" cy="5257800"/>
          </a:xfrm>
          <a:prstGeom prst="rect">
            <a:avLst/>
          </a:prstGeom>
          <a:solidFill>
            <a:srgbClr val="303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67344" y="640080"/>
            <a:ext cx="18288" cy="5257800"/>
          </a:xfrm>
          <a:prstGeom prst="rect">
            <a:avLst/>
          </a:prstGeom>
          <a:solidFill>
            <a:srgbClr val="303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43416" y="640080"/>
            <a:ext cx="18288" cy="5257800"/>
          </a:xfrm>
          <a:prstGeom prst="rect">
            <a:avLst/>
          </a:prstGeom>
          <a:solidFill>
            <a:srgbClr val="303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19488" y="640080"/>
            <a:ext cx="18288" cy="5257800"/>
          </a:xfrm>
          <a:prstGeom prst="rect">
            <a:avLst/>
          </a:prstGeom>
          <a:solidFill>
            <a:srgbClr val="303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95560" y="640080"/>
            <a:ext cx="18288" cy="5257800"/>
          </a:xfrm>
          <a:prstGeom prst="rect">
            <a:avLst/>
          </a:prstGeom>
          <a:solidFill>
            <a:srgbClr val="303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71632" y="640080"/>
            <a:ext cx="18288" cy="5257800"/>
          </a:xfrm>
          <a:prstGeom prst="rect">
            <a:avLst/>
          </a:prstGeom>
          <a:solidFill>
            <a:srgbClr val="303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658368"/>
            <a:ext cx="3657600" cy="18288"/>
          </a:xfrm>
          <a:prstGeom prst="rect">
            <a:avLst/>
          </a:prstGeom>
          <a:solidFill>
            <a:srgbClr val="303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1316736"/>
            <a:ext cx="3657600" cy="18288"/>
          </a:xfrm>
          <a:prstGeom prst="rect">
            <a:avLst/>
          </a:prstGeom>
          <a:solidFill>
            <a:srgbClr val="303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1975104"/>
            <a:ext cx="3657600" cy="18288"/>
          </a:xfrm>
          <a:prstGeom prst="rect">
            <a:avLst/>
          </a:prstGeom>
          <a:solidFill>
            <a:srgbClr val="303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0" y="2633472"/>
            <a:ext cx="3657600" cy="18288"/>
          </a:xfrm>
          <a:prstGeom prst="rect">
            <a:avLst/>
          </a:prstGeom>
          <a:solidFill>
            <a:srgbClr val="303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0" y="3291839"/>
            <a:ext cx="3657600" cy="18288"/>
          </a:xfrm>
          <a:prstGeom prst="rect">
            <a:avLst/>
          </a:prstGeom>
          <a:solidFill>
            <a:srgbClr val="303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0" y="3950207"/>
            <a:ext cx="3657600" cy="18288"/>
          </a:xfrm>
          <a:prstGeom prst="rect">
            <a:avLst/>
          </a:prstGeom>
          <a:solidFill>
            <a:srgbClr val="303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4608576"/>
            <a:ext cx="3657600" cy="18288"/>
          </a:xfrm>
          <a:prstGeom prst="rect">
            <a:avLst/>
          </a:prstGeom>
          <a:solidFill>
            <a:srgbClr val="303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5266944"/>
            <a:ext cx="3657600" cy="18288"/>
          </a:xfrm>
          <a:prstGeom prst="rect">
            <a:avLst/>
          </a:prstGeom>
          <a:solidFill>
            <a:srgbClr val="303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9248" y="4892040"/>
            <a:ext cx="246888" cy="502920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4526280"/>
            <a:ext cx="246888" cy="868680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77072" y="4736592"/>
            <a:ext cx="246888" cy="658368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4114800"/>
            <a:ext cx="246888" cy="1280160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54896" y="4370832"/>
            <a:ext cx="246888" cy="1024128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93808" y="3520440"/>
            <a:ext cx="246888" cy="1874519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8580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ABFBE"/>
                </a:solidFill>
                <a:latin typeface="Aptos"/>
              </a:rPr>
              <a:t>DATA ANALYTICS 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56692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Revenue Leakage
Investigation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3090672"/>
            <a:ext cx="5212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D6DFDD"/>
                </a:solidFill>
                <a:latin typeface="Aptos"/>
              </a:rPr>
              <a:t>Identifying missed sales caused by stockouts,
poor availability and unmet demand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4224528"/>
            <a:ext cx="914400" cy="45720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4480560"/>
            <a:ext cx="4114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FreshMart Retail Pvt. Ltd.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89204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ABFBE"/>
                </a:solidFill>
                <a:latin typeface="Aptos"/>
              </a:rPr>
              <a:t>Python  •  SQL  •  Power BI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6144768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ABFBE"/>
                </a:solidFill>
                <a:latin typeface="Aptos"/>
              </a:rPr>
              <a:t>PROJECT PRESENTATION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14476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AABFBE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73152" cy="493776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9669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A2F"/>
                </a:solidFill>
                <a:latin typeface="Aptos Display"/>
              </a:rPr>
              <a:t>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896112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758082"/>
                </a:solidFill>
                <a:latin typeface="Aptos"/>
              </a:rPr>
              <a:t>The project investigates whether product availability issues are translating into missed sales.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438912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B7465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55664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758082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55664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58082"/>
                </a:solidFill>
                <a:latin typeface="Aptos"/>
              </a:rPr>
              <a:t>FRESHMART  /  REVENUE LEAKAGE INVESTIGATION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B7465"/>
                </a:solidFill>
                <a:latin typeface="Aptos"/>
              </a:rPr>
              <a:t>THE BUSINESS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37360"/>
            <a:ext cx="6400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2A2F"/>
                </a:solidFill>
                <a:latin typeface="Aptos Display"/>
              </a:rPr>
              <a:t>Are stockouts and unmet customer demand creating a meaningful revenue opportunity for FreshMart?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852928"/>
            <a:ext cx="59893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C5B60"/>
                </a:solidFill>
                <a:latin typeface="Aptos"/>
              </a:rPr>
              <a:t>Instead of looking at inventory as a standalone operational metric, the analysis connects inventory availability with demand and revenue.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1417320"/>
            <a:ext cx="3977639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35240" y="1737360"/>
            <a:ext cx="347472" cy="347472"/>
          </a:xfrm>
          <a:prstGeom prst="ellipse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1746504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71907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A2F"/>
                </a:solidFill>
                <a:latin typeface="Aptos"/>
              </a:rPr>
              <a:t>Inventory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029967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758082"/>
                </a:solidFill>
                <a:latin typeface="Aptos"/>
              </a:rPr>
              <a:t>What stock is available?</a:t>
            </a:r>
          </a:p>
        </p:txBody>
      </p:sp>
      <p:sp>
        <p:nvSpPr>
          <p:cNvPr id="17" name="Oval 16"/>
          <p:cNvSpPr/>
          <p:nvPr/>
        </p:nvSpPr>
        <p:spPr>
          <a:xfrm>
            <a:off x="7635240" y="2670048"/>
            <a:ext cx="347472" cy="347472"/>
          </a:xfrm>
          <a:prstGeom prst="ellipse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2679191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651760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A2F"/>
                </a:solidFill>
                <a:latin typeface="Aptos"/>
              </a:rPr>
              <a:t>Stockout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962656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758082"/>
                </a:solidFill>
                <a:latin typeface="Aptos"/>
              </a:rPr>
              <a:t>Where does availability fail?</a:t>
            </a:r>
          </a:p>
        </p:txBody>
      </p:sp>
      <p:sp>
        <p:nvSpPr>
          <p:cNvPr id="21" name="Oval 20"/>
          <p:cNvSpPr/>
          <p:nvPr/>
        </p:nvSpPr>
        <p:spPr>
          <a:xfrm>
            <a:off x="7635240" y="3602736"/>
            <a:ext cx="347472" cy="347472"/>
          </a:xfrm>
          <a:prstGeom prst="ellipse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3611879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58444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A2F"/>
                </a:solidFill>
                <a:latin typeface="Aptos"/>
              </a:rPr>
              <a:t>Demand 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895344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758082"/>
                </a:solidFill>
                <a:latin typeface="Aptos"/>
              </a:rPr>
              <a:t>Where is expected demand not met?</a:t>
            </a:r>
          </a:p>
        </p:txBody>
      </p:sp>
      <p:sp>
        <p:nvSpPr>
          <p:cNvPr id="25" name="Oval 24"/>
          <p:cNvSpPr/>
          <p:nvPr/>
        </p:nvSpPr>
        <p:spPr>
          <a:xfrm>
            <a:off x="7635240" y="4535424"/>
            <a:ext cx="347472" cy="347472"/>
          </a:xfrm>
          <a:prstGeom prst="ellipse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4544568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517136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A2F"/>
                </a:solidFill>
                <a:latin typeface="Aptos"/>
              </a:rPr>
              <a:t>Revenue opportunity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828032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758082"/>
                </a:solidFill>
                <a:latin typeface="Aptos"/>
              </a:rPr>
              <a:t>Where could missed demand matter most?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977639"/>
            <a:ext cx="6126480" cy="1783080"/>
          </a:xfrm>
          <a:prstGeom prst="roundRect">
            <a:avLst/>
          </a:prstGeom>
          <a:solidFill>
            <a:srgbClr val="E1EEE9"/>
          </a:solidFill>
          <a:ln w="10160">
            <a:solidFill>
              <a:srgbClr val="2B7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4279392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B7465"/>
                </a:solidFill>
                <a:latin typeface="Aptos"/>
              </a:rPr>
              <a:t>Investigation focus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4663440"/>
            <a:ext cx="5349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F2A2F"/>
                </a:solidFill>
                <a:latin typeface="Aptos"/>
              </a:rPr>
              <a:t>Find where the problem is concentrated, estimate the related revenue opportunity, and turn the evidence into practical inventory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73152" cy="493776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9669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A2F"/>
                </a:solidFill>
                <a:latin typeface="Aptos Display"/>
              </a:rPr>
              <a:t>Dataset &amp; Project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896112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758082"/>
                </a:solidFill>
                <a:latin typeface="Aptos"/>
              </a:rPr>
              <a:t>The same prepared dataset was carried through Python, SQL and Power BI.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438912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B7465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55664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758082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55664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58082"/>
                </a:solidFill>
                <a:latin typeface="Aptos"/>
              </a:rPr>
              <a:t>FRESHMART  /  REVENUE LEAKAGE INVESTIGATION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214884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417320"/>
            <a:ext cx="50292" cy="1143000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581912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58082"/>
                </a:solidFill>
                <a:latin typeface="Aptos"/>
              </a:rPr>
              <a:t>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911095"/>
            <a:ext cx="1783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F2A2F"/>
                </a:solidFill>
                <a:latin typeface="Aptos Display"/>
              </a:rPr>
              <a:t>73,100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231136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58082"/>
                </a:solidFill>
                <a:latin typeface="Aptos"/>
              </a:rPr>
              <a:t>raw and final rows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99232" y="1417320"/>
            <a:ext cx="214884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99232" y="1417320"/>
            <a:ext cx="50292" cy="1143000"/>
          </a:xfrm>
          <a:prstGeom prst="rect">
            <a:avLst/>
          </a:prstGeom>
          <a:solidFill>
            <a:srgbClr val="43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1581912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58082"/>
                </a:solidFill>
                <a:latin typeface="Aptos"/>
              </a:rPr>
              <a:t>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1911095"/>
            <a:ext cx="1783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F2A2F"/>
                </a:solidFill>
                <a:latin typeface="Aptos Display"/>
              </a:rPr>
              <a:t>731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231136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58082"/>
                </a:solidFill>
                <a:latin typeface="Aptos"/>
              </a:rPr>
              <a:t>2022-01-01 to 2024-01-01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12664" y="1417320"/>
            <a:ext cx="214884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12664" y="1417320"/>
            <a:ext cx="50292" cy="1143000"/>
          </a:xfrm>
          <a:prstGeom prst="rect">
            <a:avLst/>
          </a:prstGeom>
          <a:solidFill>
            <a:srgbClr val="B88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13831" y="1581912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58082"/>
                </a:solidFill>
                <a:latin typeface="Aptos"/>
              </a:rPr>
              <a:t>STORES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13831" y="1911095"/>
            <a:ext cx="1783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F2A2F"/>
                </a:solidFill>
                <a:latin typeface="Aptos Display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3831" y="2231136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58082"/>
                </a:solidFill>
                <a:latin typeface="Aptos"/>
              </a:rPr>
              <a:t>S001–S005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26096" y="1417320"/>
            <a:ext cx="214884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26096" y="1417320"/>
            <a:ext cx="50292" cy="1143000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27264" y="1581912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58082"/>
                </a:solidFill>
                <a:latin typeface="Aptos"/>
              </a:rPr>
              <a:t>CATEGORIES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27264" y="1911095"/>
            <a:ext cx="1783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F2A2F"/>
                </a:solidFill>
                <a:latin typeface="Aptos Display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27264" y="2231136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58082"/>
                </a:solidFill>
                <a:latin typeface="Aptos"/>
              </a:rPr>
              <a:t>retail categories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39528" y="1417320"/>
            <a:ext cx="1572768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39528" y="1417320"/>
            <a:ext cx="50292" cy="1143000"/>
          </a:xfrm>
          <a:prstGeom prst="rect">
            <a:avLst/>
          </a:prstGeom>
          <a:solidFill>
            <a:srgbClr val="43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0696" y="1581912"/>
            <a:ext cx="1207007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58082"/>
                </a:solidFill>
                <a:latin typeface="Aptos"/>
              </a:rPr>
              <a:t>PRODUCTS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0696" y="1911095"/>
            <a:ext cx="1207007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F2A2F"/>
                </a:solidFill>
                <a:latin typeface="Aptos Display"/>
              </a:rPr>
              <a:t>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0696" y="2231136"/>
            <a:ext cx="1207007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58082"/>
                </a:solidFill>
                <a:latin typeface="Aptos"/>
              </a:rPr>
              <a:t>Product IDs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297180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B7465"/>
                </a:solidFill>
                <a:latin typeface="Aptos"/>
              </a:rPr>
              <a:t>SCOPE OF ANALYSIS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3364992"/>
            <a:ext cx="45720" cy="594360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3364992"/>
            <a:ext cx="4892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F"/>
                </a:solidFill>
                <a:latin typeface="Aptos"/>
              </a:rPr>
              <a:t>Business dimensions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3639312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4C5B60"/>
                </a:solidFill>
                <a:latin typeface="Aptos"/>
              </a:rPr>
              <a:t>Store, Product, Category and Region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4160520"/>
            <a:ext cx="45720" cy="594360"/>
          </a:xfrm>
          <a:prstGeom prst="rect">
            <a:avLst/>
          </a:prstGeom>
          <a:solidFill>
            <a:srgbClr val="43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4160520"/>
            <a:ext cx="4892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F"/>
                </a:solidFill>
                <a:latin typeface="Aptos"/>
              </a:rPr>
              <a:t>Core measures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443484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4C5B60"/>
                </a:solidFill>
                <a:latin typeface="Aptos"/>
              </a:rPr>
              <a:t>Inventory, Units Sold, Forecast Demand and Revenue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89320" y="3364992"/>
            <a:ext cx="45720" cy="594360"/>
          </a:xfrm>
          <a:prstGeom prst="rect">
            <a:avLst/>
          </a:prstGeom>
          <a:solidFill>
            <a:srgbClr val="B88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3364992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F"/>
                </a:solidFill>
                <a:latin typeface="Aptos"/>
              </a:rPr>
              <a:t>Investigation metrics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3639312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4C5B60"/>
                </a:solidFill>
                <a:latin typeface="Aptos"/>
              </a:rPr>
              <a:t>Stockouts, Demand Gap, Inventory Utilization and Revenue Opportunity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89320" y="4160520"/>
            <a:ext cx="45720" cy="594360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72200" y="4160520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F"/>
                </a:solidFill>
                <a:latin typeface="Aptos"/>
              </a:rPr>
              <a:t>Output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44348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4C5B60"/>
                </a:solidFill>
                <a:latin typeface="Aptos"/>
              </a:rPr>
              <a:t>Interactive Power BI dashboard plus documented findings and recommendations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5230368"/>
            <a:ext cx="10515600" cy="530352"/>
          </a:xfrm>
          <a:prstGeom prst="roundRect">
            <a:avLst/>
          </a:prstGeom>
          <a:solidFill>
            <a:srgbClr val="F4ECDA"/>
          </a:solidFill>
          <a:ln w="10160">
            <a:solidFill>
              <a:srgbClr val="B88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5394960"/>
            <a:ext cx="10058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F2A2F"/>
                </a:solidFill>
                <a:latin typeface="Aptos"/>
              </a:rPr>
              <a:t>Currency note: the source dataset does not specify a currency unit. Monetary values are therefore shown as currency units.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73152" cy="493776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9669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A2F"/>
                </a:solidFill>
                <a:latin typeface="Aptos Display"/>
              </a:rPr>
              <a:t>Analysis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896112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758082"/>
                </a:solidFill>
                <a:latin typeface="Aptos"/>
              </a:rPr>
              <a:t>The workflow was designed to move from data reliability to business interpretation.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438912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B7465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55664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758082"/>
                </a:solidFill>
                <a:latin typeface="Apto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55664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58082"/>
                </a:solidFill>
                <a:latin typeface="Aptos"/>
              </a:rPr>
              <a:t>FRESHMART  /  REVENUE LEAKAGE INVESTIGATION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2487168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6968" y="1810512"/>
            <a:ext cx="347472" cy="347472"/>
          </a:xfrm>
          <a:prstGeom prst="ellipse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1965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359152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2A2F"/>
                </a:solidFill>
                <a:latin typeface="Aptos Display"/>
              </a:rP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816352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B7465"/>
                </a:solidFill>
                <a:latin typeface="Aptos"/>
              </a:rPr>
              <a:t>Validate + 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429000"/>
            <a:ext cx="1965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B60"/>
                </a:solidFill>
                <a:latin typeface="Aptos"/>
              </a:rPr>
              <a:t>Data quality and EDA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91256" y="28803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758082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1572768"/>
            <a:ext cx="2487168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703320" y="1810512"/>
            <a:ext cx="347472" cy="347472"/>
          </a:xfrm>
          <a:prstGeom prst="ellipse">
            <a:avLst/>
          </a:prstGeom>
          <a:solidFill>
            <a:srgbClr val="43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181965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359152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2A2F"/>
                </a:solidFill>
                <a:latin typeface="Aptos Display"/>
              </a:rPr>
              <a:t>Feature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2816352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36584"/>
                </a:solidFill>
                <a:latin typeface="Aptos"/>
              </a:rPr>
              <a:t>Create investigation fields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429000"/>
            <a:ext cx="1965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B60"/>
                </a:solidFill>
                <a:latin typeface="Aptos"/>
              </a:rPr>
              <a:t>Revenue, demand gap, stockout, utilization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8" y="28803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758082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1572768"/>
            <a:ext cx="2487168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19672" y="1810512"/>
            <a:ext cx="347472" cy="347472"/>
          </a:xfrm>
          <a:prstGeom prst="ellipse">
            <a:avLst/>
          </a:prstGeom>
          <a:solidFill>
            <a:srgbClr val="B88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181965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2359152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2A2F"/>
                </a:solidFill>
                <a:latin typeface="Aptos Display"/>
              </a:rPr>
              <a:t>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2816352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88B42"/>
                </a:solidFill>
                <a:latin typeface="Aptos"/>
              </a:rPr>
              <a:t>Test business questions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9672" y="3429000"/>
            <a:ext cx="1965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B60"/>
                </a:solidFill>
                <a:latin typeface="Aptos"/>
              </a:rPr>
              <a:t>Store, region, category and product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28803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758082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07424" y="1572768"/>
            <a:ext cx="2487168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336024" y="1810512"/>
            <a:ext cx="347472" cy="347472"/>
          </a:xfrm>
          <a:prstGeom prst="ellipse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36024" y="181965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36024" y="2359152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2A2F"/>
                </a:solidFill>
                <a:latin typeface="Aptos Display"/>
              </a:rPr>
              <a:t>Power BI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36024" y="2816352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B7465"/>
                </a:solidFill>
                <a:latin typeface="Aptos"/>
              </a:rPr>
              <a:t>Communicate the result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36024" y="3429000"/>
            <a:ext cx="1965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B60"/>
                </a:solidFill>
                <a:latin typeface="Aptos"/>
              </a:rPr>
              <a:t>Interactive dashboard and recommendations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257800"/>
            <a:ext cx="10927080" cy="566928"/>
          </a:xfrm>
          <a:prstGeom prst="roundRect">
            <a:avLst/>
          </a:prstGeom>
          <a:solidFill>
            <a:srgbClr val="1F2A2F"/>
          </a:solidFill>
          <a:ln w="10160">
            <a:solidFill>
              <a:srgbClr val="1F2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440680"/>
            <a:ext cx="104698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Business story: Inventory availability  →  Stockouts  →  Demand gap  →  Estimated revenue opportunity  →  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73152" cy="493776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9669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A2F"/>
                </a:solidFill>
                <a:latin typeface="Aptos Display"/>
              </a:rPr>
              <a:t>Data Preparation &amp; 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896112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758082"/>
                </a:solidFill>
                <a:latin typeface="Aptos"/>
              </a:rPr>
              <a:t>Cleaning and derived fields made the raw data usable for the investigation.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438912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B7465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55664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758082"/>
                </a:solidFill>
                <a:latin typeface="Apto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55664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58082"/>
                </a:solidFill>
                <a:latin typeface="Aptos"/>
              </a:rPr>
              <a:t>FRESHMART  /  REVENUE LEAKAGE INVESTIGATION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71600"/>
            <a:ext cx="237744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371600"/>
            <a:ext cx="50292" cy="1115568"/>
          </a:xfrm>
          <a:prstGeom prst="rect">
            <a:avLst/>
          </a:prstGeom>
          <a:solidFill>
            <a:srgbClr val="A64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536192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58082"/>
                </a:solidFill>
                <a:latin typeface="Aptos"/>
              </a:rPr>
              <a:t>NEGATIVE FORECASTS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865376"/>
            <a:ext cx="2011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F2A2F"/>
                </a:solidFill>
                <a:latin typeface="Aptos Display"/>
              </a:rPr>
              <a:t>673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157984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58082"/>
                </a:solidFill>
                <a:latin typeface="Aptos"/>
              </a:rPr>
              <a:t>changed to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371600"/>
            <a:ext cx="237744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371600"/>
            <a:ext cx="50292" cy="1115568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47288" y="1536192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58082"/>
                </a:solidFill>
                <a:latin typeface="Aptos"/>
              </a:rPr>
              <a:t>DUPLICATE KEY 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1865376"/>
            <a:ext cx="2011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F2A2F"/>
                </a:solidFill>
                <a:latin typeface="Aptos Display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2157984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58082"/>
                </a:solidFill>
                <a:latin typeface="Aptos"/>
              </a:rPr>
              <a:t>Date + Store + Product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06440" y="1371600"/>
            <a:ext cx="237744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06440" y="1371600"/>
            <a:ext cx="50292" cy="1115568"/>
          </a:xfrm>
          <a:prstGeom prst="rect">
            <a:avLst/>
          </a:prstGeom>
          <a:solidFill>
            <a:srgbClr val="43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536192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58082"/>
                </a:solidFill>
                <a:latin typeface="Aptos"/>
              </a:rPr>
              <a:t>FINAL COLUMNS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865376"/>
            <a:ext cx="2011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F2A2F"/>
                </a:solidFill>
                <a:latin typeface="Aptos Display"/>
              </a:rPr>
              <a:t>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7607" y="2157984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58082"/>
                </a:solidFill>
                <a:latin typeface="Aptos"/>
              </a:rPr>
              <a:t>after feature engineering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66760" y="1371600"/>
            <a:ext cx="237744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66760" y="1371600"/>
            <a:ext cx="50292" cy="1115568"/>
          </a:xfrm>
          <a:prstGeom prst="rect">
            <a:avLst/>
          </a:prstGeom>
          <a:solidFill>
            <a:srgbClr val="B88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67928" y="1536192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58082"/>
                </a:solidFill>
                <a:latin typeface="Aptos"/>
              </a:rPr>
              <a:t>FULFILLMENT BLANKS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67928" y="1865376"/>
            <a:ext cx="2011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F2A2F"/>
                </a:solidFill>
                <a:latin typeface="Aptos Display"/>
              </a:rPr>
              <a:t>673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67928" y="2157984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58082"/>
                </a:solidFill>
                <a:latin typeface="Aptos"/>
              </a:rPr>
              <a:t>remaining after cleaning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288036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B7465"/>
                </a:solidFill>
                <a:latin typeface="Aptos"/>
              </a:rPr>
              <a:t>IMPORTANT ENGINEERED FIELDS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310128"/>
            <a:ext cx="4983480" cy="6126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341985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F2A2F"/>
                </a:solidFill>
                <a:latin typeface="Aptos"/>
              </a:rPr>
              <a:t>Revenue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3419856"/>
            <a:ext cx="2880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4C5B60"/>
                </a:solidFill>
                <a:latin typeface="Aptos"/>
              </a:rPr>
              <a:t>Units Sold × Final price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3310128"/>
            <a:ext cx="4983480" cy="6126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341985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F2A2F"/>
                </a:solidFill>
                <a:latin typeface="Aptos"/>
              </a:rPr>
              <a:t>Demand Gap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3419856"/>
            <a:ext cx="2880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4C5B60"/>
                </a:solidFill>
                <a:latin typeface="Aptos"/>
              </a:rPr>
              <a:t>Forecast Demand − Units Sold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114800"/>
            <a:ext cx="4983480" cy="6126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4224528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F2A2F"/>
                </a:solidFill>
                <a:latin typeface="Aptos"/>
              </a:rPr>
              <a:t>Stockout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4224528"/>
            <a:ext cx="2880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4C5B60"/>
                </a:solidFill>
                <a:latin typeface="Aptos"/>
              </a:rPr>
              <a:t>Forecast demand exceeds available inventory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2200" y="4114800"/>
            <a:ext cx="4983480" cy="6126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4224528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F2A2F"/>
                </a:solidFill>
                <a:latin typeface="Aptos"/>
              </a:rPr>
              <a:t>Inventory Utilization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4224528"/>
            <a:ext cx="2880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4C5B60"/>
                </a:solidFill>
                <a:latin typeface="Aptos"/>
              </a:rPr>
              <a:t>Used inventory relative to inventory level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4919472"/>
            <a:ext cx="4983480" cy="6126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029200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F2A2F"/>
                </a:solidFill>
                <a:latin typeface="Aptos"/>
              </a:rPr>
              <a:t>Remaining Inventory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14600" y="5029200"/>
            <a:ext cx="2880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4C5B60"/>
                </a:solidFill>
                <a:latin typeface="Aptos"/>
              </a:rPr>
              <a:t>Inventory Level − Units Sold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72200" y="4919472"/>
            <a:ext cx="4983480" cy="6126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5029200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F2A2F"/>
                </a:solidFill>
                <a:latin typeface="Aptos"/>
              </a:rPr>
              <a:t>Overstock Flag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0" y="5029200"/>
            <a:ext cx="2880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4C5B60"/>
                </a:solidFill>
                <a:latin typeface="Aptos"/>
              </a:rPr>
              <a:t>Inventory above the defined 20% threshold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73152" cy="493776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9669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A2F"/>
                </a:solidFill>
                <a:latin typeface="Aptos Display"/>
              </a:rPr>
              <a:t>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896112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758082"/>
                </a:solidFill>
                <a:latin typeface="Aptos"/>
              </a:rPr>
              <a:t>EDA showed that stockouts are relatively infrequent per record, but the wider inventory picture deserves attention.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438912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B7465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55664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758082"/>
                </a:solidFill>
                <a:latin typeface="Apto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55664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58082"/>
                </a:solidFill>
                <a:latin typeface="Aptos"/>
              </a:rPr>
              <a:t>FRESHMART  /  REVENUE LEAKAGE INVESTIGATION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53312"/>
            <a:ext cx="24231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353312"/>
            <a:ext cx="50292" cy="1143000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517904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58082"/>
                </a:solidFill>
                <a:latin typeface="Aptos"/>
              </a:rPr>
              <a:t>TOTAL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847088"/>
            <a:ext cx="2057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F2A2F"/>
                </a:solidFill>
                <a:latin typeface="Aptos Display"/>
              </a:rPr>
              <a:t>494.97M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167128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58082"/>
                </a:solidFill>
                <a:latin typeface="Aptos"/>
              </a:rPr>
              <a:t>currency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353312"/>
            <a:ext cx="24231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353312"/>
            <a:ext cx="50292" cy="1143000"/>
          </a:xfrm>
          <a:prstGeom prst="rect">
            <a:avLst/>
          </a:prstGeom>
          <a:solidFill>
            <a:srgbClr val="A64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8728" y="1517904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58082"/>
                </a:solidFill>
                <a:latin typeface="Aptos"/>
              </a:rPr>
              <a:t>STOCKOUT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1847088"/>
            <a:ext cx="2057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F2A2F"/>
                </a:solidFill>
                <a:latin typeface="Aptos Display"/>
              </a:rPr>
              <a:t>2,585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2167128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58082"/>
                </a:solidFill>
                <a:latin typeface="Aptos"/>
              </a:rPr>
              <a:t>3.54% of records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1353312"/>
            <a:ext cx="24231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89320" y="1353312"/>
            <a:ext cx="50292" cy="1143000"/>
          </a:xfrm>
          <a:prstGeom prst="rect">
            <a:avLst/>
          </a:prstGeom>
          <a:solidFill>
            <a:srgbClr val="B88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1517904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58082"/>
                </a:solidFill>
                <a:latin typeface="Aptos"/>
              </a:rPr>
              <a:t>OVERSTOCK 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1847088"/>
            <a:ext cx="2057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F2A2F"/>
                </a:solidFill>
                <a:latin typeface="Aptos Display"/>
              </a:rPr>
              <a:t>59,037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0488" y="2167128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58082"/>
                </a:solidFill>
                <a:latin typeface="Aptos"/>
              </a:rPr>
              <a:t>80.76% of records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41080" y="1353312"/>
            <a:ext cx="24231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41080" y="1353312"/>
            <a:ext cx="50292" cy="1143000"/>
          </a:xfrm>
          <a:prstGeom prst="rect">
            <a:avLst/>
          </a:prstGeom>
          <a:solidFill>
            <a:srgbClr val="43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42248" y="1517904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58082"/>
                </a:solidFill>
                <a:latin typeface="Aptos"/>
              </a:rPr>
              <a:t>POSITIVE DEMAND GAP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42248" y="1847088"/>
            <a:ext cx="2057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F2A2F"/>
                </a:solidFill>
                <a:latin typeface="Aptos Display"/>
              </a:rPr>
              <a:t>48,783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42248" y="2167128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58082"/>
                </a:solidFill>
                <a:latin typeface="Aptos"/>
              </a:rPr>
              <a:t>records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297180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B7465"/>
                </a:solidFill>
                <a:latin typeface="Aptos"/>
              </a:rPr>
              <a:t>STOCKOUTS BY CATEGORY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401568"/>
            <a:ext cx="1506931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4C5B60"/>
                </a:solidFill>
                <a:latin typeface="Aptos"/>
              </a:rPr>
              <a:t>Groceries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914" y="3451860"/>
            <a:ext cx="2495854" cy="128016"/>
          </a:xfrm>
          <a:prstGeom prst="rect">
            <a:avLst/>
          </a:prstGeom>
          <a:solidFill>
            <a:srgbClr val="DA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286914" y="3451860"/>
            <a:ext cx="2495854" cy="128016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24044" y="3401568"/>
            <a:ext cx="4709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1F2A2F"/>
                </a:solidFill>
                <a:latin typeface="Aptos"/>
              </a:rPr>
              <a:t>535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3831336"/>
            <a:ext cx="1506931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4C5B60"/>
                </a:solidFill>
                <a:latin typeface="Aptos"/>
              </a:rPr>
              <a:t>Furniture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914" y="3881628"/>
            <a:ext cx="2495854" cy="128016"/>
          </a:xfrm>
          <a:prstGeom prst="rect">
            <a:avLst/>
          </a:prstGeom>
          <a:solidFill>
            <a:srgbClr val="DA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86914" y="3881628"/>
            <a:ext cx="2444538" cy="128016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24044" y="3831336"/>
            <a:ext cx="4709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1F2A2F"/>
                </a:solidFill>
                <a:latin typeface="Aptos"/>
              </a:rPr>
              <a:t>524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4261104"/>
            <a:ext cx="1506931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4C5B60"/>
                </a:solidFill>
                <a:latin typeface="Aptos"/>
              </a:rPr>
              <a:t>Clothing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914" y="4311396"/>
            <a:ext cx="2495854" cy="128016"/>
          </a:xfrm>
          <a:prstGeom prst="rect">
            <a:avLst/>
          </a:prstGeom>
          <a:solidFill>
            <a:srgbClr val="DA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286914" y="4311396"/>
            <a:ext cx="2379226" cy="128016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24044" y="4261104"/>
            <a:ext cx="4709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1F2A2F"/>
                </a:solidFill>
                <a:latin typeface="Aptos"/>
              </a:rPr>
              <a:t>510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4690872"/>
            <a:ext cx="1506931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4C5B60"/>
                </a:solidFill>
                <a:latin typeface="Aptos"/>
              </a:rPr>
              <a:t>Toys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914" y="4741164"/>
            <a:ext cx="2495854" cy="128016"/>
          </a:xfrm>
          <a:prstGeom prst="rect">
            <a:avLst/>
          </a:prstGeom>
          <a:solidFill>
            <a:srgbClr val="DA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286914" y="4741164"/>
            <a:ext cx="2369895" cy="128016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24044" y="4690872"/>
            <a:ext cx="4709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1F2A2F"/>
                </a:solidFill>
                <a:latin typeface="Aptos"/>
              </a:rPr>
              <a:t>508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120640"/>
            <a:ext cx="1506931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4C5B60"/>
                </a:solidFill>
                <a:latin typeface="Aptos"/>
              </a:rPr>
              <a:t>Electronics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914" y="5170931"/>
            <a:ext cx="2495854" cy="128016"/>
          </a:xfrm>
          <a:prstGeom prst="rect">
            <a:avLst/>
          </a:prstGeom>
          <a:solidFill>
            <a:srgbClr val="DA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286914" y="5170931"/>
            <a:ext cx="2369895" cy="128016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24044" y="5120640"/>
            <a:ext cx="4709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1F2A2F"/>
                </a:solidFill>
                <a:latin typeface="Aptos"/>
              </a:rPr>
              <a:t>508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89320" y="3182112"/>
            <a:ext cx="507492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63640" y="3456432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B7465"/>
                </a:solidFill>
                <a:latin typeface="Aptos"/>
              </a:rPr>
              <a:t>What stands out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913632"/>
            <a:ext cx="4206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2A2F"/>
                </a:solidFill>
                <a:latin typeface="Aptos"/>
              </a:rPr>
              <a:t>Stockouts are spread across all five categories.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4315968"/>
            <a:ext cx="42519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C5B60"/>
                </a:solidFill>
                <a:latin typeface="Aptos"/>
              </a:rPr>
              <a:t>The range is narrow — 508 to 535 records — so the issue is not isolated to one category.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510235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B7465"/>
                </a:solidFill>
                <a:latin typeface="Aptos"/>
              </a:rPr>
              <a:t>This supports a broader inventory-planning investigation.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73152" cy="493776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9669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A2F"/>
                </a:solidFill>
                <a:latin typeface="Aptos Display"/>
              </a:rPr>
              <a:t>SQL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896112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758082"/>
                </a:solidFill>
                <a:latin typeface="Aptos"/>
              </a:rPr>
              <a:t>SQL translated the business problem into comparable store, category, region and product questions.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438912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B7465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55664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758082"/>
                </a:solidFill>
                <a:latin typeface="Apto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55664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58082"/>
                </a:solidFill>
                <a:latin typeface="Aptos"/>
              </a:rPr>
              <a:t>FRESHMART  /  REVENUE LEAKAGE INVESTIGATION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53312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B7465"/>
                </a:solidFill>
                <a:latin typeface="Aptos"/>
              </a:rPr>
              <a:t>HIGHEST STOCKOUT STORES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19072"/>
            <a:ext cx="5166360" cy="3566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47672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58082"/>
                </a:solidFill>
                <a:latin typeface="Aptos"/>
              </a:rPr>
              <a:t>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1947672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58082"/>
                </a:solidFill>
                <a:latin typeface="Aptos"/>
              </a:rPr>
              <a:t>STOCKOUTS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947672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58082"/>
                </a:solidFill>
                <a:latin typeface="Aptos"/>
              </a:rPr>
              <a:t>DEMAND GAP DURING STOCKOUTS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2286000"/>
            <a:ext cx="4754880" cy="393192"/>
          </a:xfrm>
          <a:prstGeom prst="roundRect">
            <a:avLst/>
          </a:prstGeom>
          <a:solidFill>
            <a:srgbClr val="E1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359152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F2A2F"/>
                </a:solidFill>
                <a:latin typeface="Aptos"/>
              </a:rPr>
              <a:t>S004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2359152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F2A2F"/>
                </a:solidFill>
                <a:latin typeface="Aptos"/>
              </a:rPr>
              <a:t>547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359152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C5B60"/>
                </a:solidFill>
                <a:latin typeface="Aptos"/>
              </a:rPr>
              <a:t>7,225.39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2816352"/>
            <a:ext cx="4754880" cy="393192"/>
          </a:xfrm>
          <a:prstGeom prst="roundRect">
            <a:avLst/>
          </a:prstGeom>
          <a:solidFill>
            <a:srgbClr val="E1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889504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F2A2F"/>
                </a:solidFill>
                <a:latin typeface="Aptos"/>
              </a:rPr>
              <a:t>S005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2889504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F2A2F"/>
                </a:solidFill>
                <a:latin typeface="Aptos"/>
              </a:rPr>
              <a:t>527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889504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C5B60"/>
                </a:solidFill>
                <a:latin typeface="Aptos"/>
              </a:rPr>
              <a:t>6,870.19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3346704"/>
            <a:ext cx="4754880" cy="393192"/>
          </a:xfrm>
          <a:prstGeom prst="roundRect">
            <a:avLst/>
          </a:prstGeom>
          <a:solidFill>
            <a:srgbClr val="E1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419856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F2A2F"/>
                </a:solidFill>
                <a:latin typeface="Aptos"/>
              </a:rPr>
              <a:t>S002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3419856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F2A2F"/>
                </a:solidFill>
                <a:latin typeface="Aptos"/>
              </a:rPr>
              <a:t>523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41985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C5B60"/>
                </a:solidFill>
                <a:latin typeface="Aptos"/>
              </a:rPr>
              <a:t>6,674.91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5020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F2A2F"/>
                </a:solidFill>
                <a:latin typeface="Aptos"/>
              </a:rPr>
              <a:t>S003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3950208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F2A2F"/>
                </a:solidFill>
                <a:latin typeface="Aptos"/>
              </a:rPr>
              <a:t>506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950208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C5B60"/>
                </a:solidFill>
                <a:latin typeface="Aptos"/>
              </a:rPr>
              <a:t>6,677.72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48056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F2A2F"/>
                </a:solidFill>
                <a:latin typeface="Aptos"/>
              </a:rPr>
              <a:t>S001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4480560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F2A2F"/>
                </a:solidFill>
                <a:latin typeface="Aptos"/>
              </a:rPr>
              <a:t>482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480560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C5B60"/>
                </a:solidFill>
                <a:latin typeface="Aptos"/>
              </a:rPr>
              <a:t>6,149.35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1353312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B7465"/>
                </a:solidFill>
                <a:latin typeface="Aptos"/>
              </a:rPr>
              <a:t>ADDITIONAL SQL FINDINGS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719072"/>
            <a:ext cx="45720" cy="594360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1719072"/>
            <a:ext cx="470915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F"/>
                </a:solidFill>
                <a:latin typeface="Aptos"/>
              </a:rPr>
              <a:t>Revenue leaders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1993391"/>
            <a:ext cx="47091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4C5B60"/>
                </a:solidFill>
                <a:latin typeface="Aptos"/>
              </a:rPr>
              <a:t>S005 and S003 were above average store revenue.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2578608"/>
            <a:ext cx="45720" cy="594360"/>
          </a:xfrm>
          <a:prstGeom prst="rect">
            <a:avLst/>
          </a:prstGeom>
          <a:solidFill>
            <a:srgbClr val="43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2578608"/>
            <a:ext cx="470915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F"/>
                </a:solidFill>
                <a:latin typeface="Aptos"/>
              </a:rPr>
              <a:t>Lowest store utilization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2852927"/>
            <a:ext cx="47091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4C5B60"/>
                </a:solidFill>
                <a:latin typeface="Aptos"/>
              </a:rPr>
              <a:t>S001 had the lowest average inventory utilization at 49.55%.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3438144"/>
            <a:ext cx="45720" cy="594360"/>
          </a:xfrm>
          <a:prstGeom prst="rect">
            <a:avLst/>
          </a:prstGeom>
          <a:solidFill>
            <a:srgbClr val="B88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3438144"/>
            <a:ext cx="470915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F"/>
                </a:solidFill>
                <a:latin typeface="Aptos"/>
              </a:rPr>
              <a:t>Highest category demand gap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712463"/>
            <a:ext cx="47091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4C5B60"/>
                </a:solidFill>
                <a:latin typeface="Aptos"/>
              </a:rPr>
              <a:t>Toys had the highest category demand gap at 74,913.95 units.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297680"/>
            <a:ext cx="45720" cy="594360"/>
          </a:xfrm>
          <a:prstGeom prst="rect">
            <a:avLst/>
          </a:prstGeom>
          <a:solidFill>
            <a:srgbClr val="A64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297680"/>
            <a:ext cx="470915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F"/>
                </a:solidFill>
                <a:latin typeface="Aptos"/>
              </a:rPr>
              <a:t>Stockout-period revenue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572000"/>
            <a:ext cx="47091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4C5B60"/>
                </a:solidFill>
                <a:latin typeface="Aptos"/>
              </a:rPr>
              <a:t>24.11M revenue was recorded during stockout-labelled records.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5230368"/>
            <a:ext cx="4892040" cy="530352"/>
          </a:xfrm>
          <a:prstGeom prst="roundRect">
            <a:avLst/>
          </a:prstGeom>
          <a:solidFill>
            <a:srgbClr val="F4E4E3"/>
          </a:solidFill>
          <a:ln w="10160">
            <a:solidFill>
              <a:srgbClr val="A64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19088" y="5394960"/>
            <a:ext cx="4526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A64F4C"/>
                </a:solidFill>
                <a:latin typeface="Aptos"/>
              </a:rPr>
              <a:t>Important: stockout-period revenue is observed revenue, not lost revenue.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73152" cy="493776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9669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A2F"/>
                </a:solidFill>
                <a:latin typeface="Aptos Display"/>
              </a:rPr>
              <a:t>Power BI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896112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758082"/>
                </a:solidFill>
                <a:latin typeface="Aptos"/>
              </a:rPr>
              <a:t>The dashboard turns the analysis into a three-page decision 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438912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B7465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55664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758082"/>
                </a:solidFill>
                <a:latin typeface="Aptos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55664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58082"/>
                </a:solidFill>
                <a:latin typeface="Aptos"/>
              </a:rPr>
              <a:t>FRESHMART  /  REVENUE LEAKAGE INVESTIGATION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63040"/>
            <a:ext cx="333756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463040"/>
            <a:ext cx="3337560" cy="256032"/>
          </a:xfrm>
          <a:prstGeom prst="rect">
            <a:avLst/>
          </a:prstGeom>
          <a:solidFill>
            <a:srgbClr val="1F2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5528" y="1536192"/>
            <a:ext cx="73152" cy="73152"/>
          </a:xfrm>
          <a:prstGeom prst="ellipse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0976" y="1536192"/>
            <a:ext cx="73152" cy="73152"/>
          </a:xfrm>
          <a:prstGeom prst="ellipse">
            <a:avLst/>
          </a:prstGeom>
          <a:solidFill>
            <a:srgbClr val="B88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6424" y="1536192"/>
            <a:ext cx="73152" cy="73152"/>
          </a:xfrm>
          <a:prstGeom prst="ellipse">
            <a:avLst/>
          </a:prstGeom>
          <a:solidFill>
            <a:srgbClr val="A64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1920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B7465"/>
                </a:solidFill>
                <a:latin typeface="Apto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331720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2A2F"/>
                </a:solidFill>
                <a:latin typeface="Aptos Display"/>
              </a:rPr>
              <a:t>Executive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88036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B7465"/>
                </a:solidFill>
                <a:latin typeface="Aptos"/>
              </a:rPr>
              <a:t>WHAT IS HAPPENING?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337560"/>
            <a:ext cx="2788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B60"/>
                </a:solidFill>
                <a:latin typeface="Aptos"/>
              </a:rPr>
              <a:t>KPIs, revenue trend, category revenue, regional stockouts and top products.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" y="4407408"/>
            <a:ext cx="2788920" cy="868680"/>
          </a:xfrm>
          <a:prstGeom prst="roundRect">
            <a:avLst/>
          </a:prstGeom>
          <a:solidFill>
            <a:srgbClr val="F6F7F4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51560" y="4617720"/>
            <a:ext cx="621792" cy="201168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47088" y="4617720"/>
            <a:ext cx="621792" cy="201168"/>
          </a:xfrm>
          <a:prstGeom prst="rect">
            <a:avLst/>
          </a:prstGeom>
          <a:solidFill>
            <a:srgbClr val="1F2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42615" y="4617720"/>
            <a:ext cx="621792" cy="201168"/>
          </a:xfrm>
          <a:prstGeom prst="rect">
            <a:avLst/>
          </a:prstGeom>
          <a:solidFill>
            <a:srgbClr val="B88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51560" y="4992624"/>
            <a:ext cx="2423160" cy="91440"/>
          </a:xfrm>
          <a:prstGeom prst="rect">
            <a:avLst/>
          </a:prstGeom>
          <a:solidFill>
            <a:srgbClr val="DA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1560" y="4992624"/>
            <a:ext cx="1737360" cy="91440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89120" y="1463040"/>
            <a:ext cx="333756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1463040"/>
            <a:ext cx="3337560" cy="256032"/>
          </a:xfrm>
          <a:prstGeom prst="rect">
            <a:avLst/>
          </a:prstGeom>
          <a:solidFill>
            <a:srgbClr val="1F2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26280" y="1536192"/>
            <a:ext cx="73152" cy="73152"/>
          </a:xfrm>
          <a:prstGeom prst="ellipse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81728" y="1536192"/>
            <a:ext cx="73152" cy="73152"/>
          </a:xfrm>
          <a:prstGeom prst="ellipse">
            <a:avLst/>
          </a:prstGeom>
          <a:solidFill>
            <a:srgbClr val="B88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37176" y="1536192"/>
            <a:ext cx="73152" cy="73152"/>
          </a:xfrm>
          <a:prstGeom prst="ellipse">
            <a:avLst/>
          </a:prstGeom>
          <a:solidFill>
            <a:srgbClr val="A64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1920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436584"/>
                </a:solidFill>
                <a:latin typeface="Aptos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2331720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2A2F"/>
                </a:solidFill>
                <a:latin typeface="Aptos Display"/>
              </a:rPr>
              <a:t>Inventory Performance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288036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36584"/>
                </a:solidFill>
                <a:latin typeface="Aptos"/>
              </a:rPr>
              <a:t>WHERE IS THE PROBLEM?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3337560"/>
            <a:ext cx="2788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B60"/>
                </a:solidFill>
                <a:latin typeface="Aptos"/>
              </a:rPr>
              <a:t>Store/category stockouts, overstock, lost units and product-level detail.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17720" y="4407408"/>
            <a:ext cx="2788920" cy="868680"/>
          </a:xfrm>
          <a:prstGeom prst="roundRect">
            <a:avLst/>
          </a:prstGeom>
          <a:solidFill>
            <a:srgbClr val="F6F7F4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782312" y="4617720"/>
            <a:ext cx="621792" cy="201168"/>
          </a:xfrm>
          <a:prstGeom prst="rect">
            <a:avLst/>
          </a:prstGeom>
          <a:solidFill>
            <a:srgbClr val="43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77840" y="4617720"/>
            <a:ext cx="621792" cy="201168"/>
          </a:xfrm>
          <a:prstGeom prst="rect">
            <a:avLst/>
          </a:prstGeom>
          <a:solidFill>
            <a:srgbClr val="1F2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73368" y="4617720"/>
            <a:ext cx="621792" cy="201168"/>
          </a:xfrm>
          <a:prstGeom prst="rect">
            <a:avLst/>
          </a:prstGeom>
          <a:solidFill>
            <a:srgbClr val="B88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82312" y="4992624"/>
            <a:ext cx="2423160" cy="91440"/>
          </a:xfrm>
          <a:prstGeom prst="rect">
            <a:avLst/>
          </a:prstGeom>
          <a:solidFill>
            <a:srgbClr val="DA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82312" y="4992624"/>
            <a:ext cx="1737360" cy="91440"/>
          </a:xfrm>
          <a:prstGeom prst="rect">
            <a:avLst/>
          </a:prstGeom>
          <a:solidFill>
            <a:srgbClr val="43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19872" y="1463040"/>
            <a:ext cx="333756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19872" y="1463040"/>
            <a:ext cx="3337560" cy="256032"/>
          </a:xfrm>
          <a:prstGeom prst="rect">
            <a:avLst/>
          </a:prstGeom>
          <a:solidFill>
            <a:srgbClr val="1F2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257032" y="1536192"/>
            <a:ext cx="73152" cy="73152"/>
          </a:xfrm>
          <a:prstGeom prst="ellipse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412480" y="1536192"/>
            <a:ext cx="73152" cy="73152"/>
          </a:xfrm>
          <a:prstGeom prst="ellipse">
            <a:avLst/>
          </a:prstGeom>
          <a:solidFill>
            <a:srgbClr val="B88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567928" y="1536192"/>
            <a:ext cx="73152" cy="73152"/>
          </a:xfrm>
          <a:prstGeom prst="ellipse">
            <a:avLst/>
          </a:prstGeom>
          <a:solidFill>
            <a:srgbClr val="A64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48472" y="1920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B88B42"/>
                </a:solidFill>
                <a:latin typeface="Aptos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8472" y="2331720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2A2F"/>
                </a:solidFill>
                <a:latin typeface="Aptos Display"/>
              </a:rPr>
              <a:t>Insights &amp; Recommendations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288036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B88B42"/>
                </a:solidFill>
                <a:latin typeface="Aptos"/>
              </a:rPr>
              <a:t>WHAT SHOULD WE DO?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2" y="3337560"/>
            <a:ext cx="2788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B60"/>
                </a:solidFill>
                <a:latin typeface="Aptos"/>
              </a:rPr>
              <a:t>Key findings, priority areas, recommendations and business impact.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48472" y="4407408"/>
            <a:ext cx="2788920" cy="868680"/>
          </a:xfrm>
          <a:prstGeom prst="roundRect">
            <a:avLst/>
          </a:prstGeom>
          <a:solidFill>
            <a:srgbClr val="F6F7F4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513064" y="4617720"/>
            <a:ext cx="621792" cy="201168"/>
          </a:xfrm>
          <a:prstGeom prst="rect">
            <a:avLst/>
          </a:prstGeom>
          <a:solidFill>
            <a:srgbClr val="B88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308592" y="4617720"/>
            <a:ext cx="621792" cy="201168"/>
          </a:xfrm>
          <a:prstGeom prst="rect">
            <a:avLst/>
          </a:prstGeom>
          <a:solidFill>
            <a:srgbClr val="1F2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104120" y="4617720"/>
            <a:ext cx="621792" cy="201168"/>
          </a:xfrm>
          <a:prstGeom prst="rect">
            <a:avLst/>
          </a:prstGeom>
          <a:solidFill>
            <a:srgbClr val="B88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513064" y="4992624"/>
            <a:ext cx="2423160" cy="91440"/>
          </a:xfrm>
          <a:prstGeom prst="rect">
            <a:avLst/>
          </a:prstGeom>
          <a:solidFill>
            <a:srgbClr val="DA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513064" y="4992624"/>
            <a:ext cx="1737360" cy="91440"/>
          </a:xfrm>
          <a:prstGeom prst="rect">
            <a:avLst/>
          </a:prstGeom>
          <a:solidFill>
            <a:srgbClr val="B88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58368" y="5833872"/>
            <a:ext cx="10899648" cy="420624"/>
          </a:xfrm>
          <a:prstGeom prst="roundRect">
            <a:avLst/>
          </a:prstGeom>
          <a:solidFill>
            <a:srgbClr val="E1EEE9"/>
          </a:solidFill>
          <a:ln w="10160">
            <a:solidFill>
              <a:srgbClr val="2B7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8680" y="5952744"/>
            <a:ext cx="10469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F2A2F"/>
                </a:solidFill>
                <a:latin typeface="Aptos"/>
              </a:rPr>
              <a:t>Interactive filters: Date • Region • Category • Store   |   Revenue view: Month • Quarter • Year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73152" cy="493776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9669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A2F"/>
                </a:solidFill>
                <a:latin typeface="Aptos Display"/>
              </a:rPr>
              <a:t>Key Business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896112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758082"/>
                </a:solidFill>
                <a:latin typeface="Aptos"/>
              </a:rPr>
              <a:t>The results identify both a broad business issue and a few clear priority areas.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438912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B7465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55664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758082"/>
                </a:solidFill>
                <a:latin typeface="Aptos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55664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58082"/>
                </a:solidFill>
                <a:latin typeface="Aptos"/>
              </a:rPr>
              <a:t>FRESHMART  /  REVENUE LEAKAGE INVESTIGATION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71600"/>
            <a:ext cx="4800600" cy="4526280"/>
          </a:xfrm>
          <a:prstGeom prst="roundRect">
            <a:avLst/>
          </a:prstGeom>
          <a:solidFill>
            <a:srgbClr val="1F2A2F"/>
          </a:solidFill>
          <a:ln w="10160">
            <a:solidFill>
              <a:srgbClr val="1F2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6420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5BEBC"/>
                </a:solidFill>
                <a:latin typeface="Aptos"/>
              </a:rPr>
              <a:t>THE BIG PICTURE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3931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Revenue opportunity is not concentrated in one category.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218688"/>
            <a:ext cx="374903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DAE2E0"/>
                </a:solidFill>
                <a:latin typeface="Aptos"/>
              </a:rPr>
              <a:t>Toys had the highest estimated opportunity at 5.43M, but Clothing, Furniture and Groceries were also very close.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343400"/>
            <a:ext cx="3703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B7465"/>
                </a:solidFill>
                <a:latin typeface="Aptos"/>
              </a:rPr>
              <a:t>Together, these four categories represented an estimated 21.54M opportunity.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37160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B7465"/>
                </a:solidFill>
                <a:latin typeface="Aptos"/>
              </a:rPr>
              <a:t>FOUR FINDINGS TO ACT ON</a:t>
            </a:r>
          </a:p>
        </p:txBody>
      </p:sp>
      <p:sp>
        <p:nvSpPr>
          <p:cNvPr id="15" name="Oval 14"/>
          <p:cNvSpPr/>
          <p:nvPr/>
        </p:nvSpPr>
        <p:spPr>
          <a:xfrm>
            <a:off x="6016752" y="1783080"/>
            <a:ext cx="347472" cy="347472"/>
          </a:xfrm>
          <a:prstGeom prst="ellipse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16752" y="1792224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1764792"/>
            <a:ext cx="4343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F"/>
                </a:solidFill>
                <a:latin typeface="Aptos"/>
              </a:rPr>
              <a:t>Stockouts are widespread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066543"/>
            <a:ext cx="4343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4C5B60"/>
                </a:solidFill>
                <a:latin typeface="Aptos"/>
              </a:rPr>
              <a:t>535 in Groceries; 524 in Furniture; 510 in Clothing; 508 each in Toys and Electronics.</a:t>
            </a:r>
          </a:p>
        </p:txBody>
      </p:sp>
      <p:sp>
        <p:nvSpPr>
          <p:cNvPr id="19" name="Oval 18"/>
          <p:cNvSpPr/>
          <p:nvPr/>
        </p:nvSpPr>
        <p:spPr>
          <a:xfrm>
            <a:off x="6016752" y="2743200"/>
            <a:ext cx="347472" cy="347472"/>
          </a:xfrm>
          <a:prstGeom prst="ellipse">
            <a:avLst/>
          </a:prstGeom>
          <a:solidFill>
            <a:srgbClr val="43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16752" y="2752344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724912"/>
            <a:ext cx="4343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F"/>
                </a:solidFill>
                <a:latin typeface="Aptos"/>
              </a:rPr>
              <a:t>Stores need different attention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026664"/>
            <a:ext cx="4343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4C5B60"/>
                </a:solidFill>
                <a:latin typeface="Aptos"/>
              </a:rPr>
              <a:t>S004, S005 and S002 recorded the most stockouts.</a:t>
            </a:r>
          </a:p>
        </p:txBody>
      </p:sp>
      <p:sp>
        <p:nvSpPr>
          <p:cNvPr id="23" name="Oval 22"/>
          <p:cNvSpPr/>
          <p:nvPr/>
        </p:nvSpPr>
        <p:spPr>
          <a:xfrm>
            <a:off x="6016752" y="3703320"/>
            <a:ext cx="347472" cy="347472"/>
          </a:xfrm>
          <a:prstGeom prst="ellipse">
            <a:avLst/>
          </a:prstGeom>
          <a:solidFill>
            <a:srgbClr val="B88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16752" y="3712463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3685032"/>
            <a:ext cx="4343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F"/>
                </a:solidFill>
                <a:latin typeface="Aptos"/>
              </a:rPr>
              <a:t>Demand gap is broad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3986783"/>
            <a:ext cx="4343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4C5B60"/>
                </a:solidFill>
                <a:latin typeface="Aptos"/>
              </a:rPr>
              <a:t>Category gaps range from about 72.9K to 74.9K units.</a:t>
            </a:r>
          </a:p>
        </p:txBody>
      </p:sp>
      <p:sp>
        <p:nvSpPr>
          <p:cNvPr id="27" name="Oval 26"/>
          <p:cNvSpPr/>
          <p:nvPr/>
        </p:nvSpPr>
        <p:spPr>
          <a:xfrm>
            <a:off x="6016752" y="4663440"/>
            <a:ext cx="347472" cy="347472"/>
          </a:xfrm>
          <a:prstGeom prst="ellipse">
            <a:avLst/>
          </a:prstGeom>
          <a:solidFill>
            <a:srgbClr val="A64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16752" y="4672584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4645152"/>
            <a:ext cx="4343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F"/>
                </a:solidFill>
                <a:latin typeface="Aptos"/>
              </a:rPr>
              <a:t>Inventory imbalance matters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4946904"/>
            <a:ext cx="4343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>
                <a:solidFill>
                  <a:srgbClr val="4C5B60"/>
                </a:solidFill>
                <a:latin typeface="Aptos"/>
              </a:rPr>
              <a:t>High overstock counts suggest availability should be considered alongside excess inventory.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73152" cy="493776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9669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A2F"/>
                </a:solidFill>
                <a:latin typeface="Aptos Display"/>
              </a:rP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896112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758082"/>
                </a:solidFill>
                <a:latin typeface="Aptos"/>
              </a:rPr>
              <a:t>The actions below directly connect to the patterns identified in the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438912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B7465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55664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758082"/>
                </a:solidFill>
                <a:latin typeface="Apto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55664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58082"/>
                </a:solidFill>
                <a:latin typeface="Aptos"/>
              </a:rPr>
              <a:t>FRESHMART  /  REVENUE LEAKAGE INVESTIGATION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106527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636776"/>
            <a:ext cx="347472" cy="347472"/>
          </a:xfrm>
          <a:prstGeom prst="ellipse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645920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554480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F2A2F"/>
                </a:solidFill>
                <a:latin typeface="Aptos"/>
              </a:rPr>
              <a:t>Improve stock availability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527048"/>
            <a:ext cx="5257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C5B60"/>
                </a:solidFill>
                <a:latin typeface="Aptos"/>
              </a:rPr>
              <a:t>Review restock frequency and whether stores are receiving enough stock.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21240" y="1664208"/>
            <a:ext cx="1078992" cy="292608"/>
          </a:xfrm>
          <a:prstGeom prst="roundRect">
            <a:avLst/>
          </a:prstGeom>
          <a:solidFill>
            <a:srgbClr val="E1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0" y="1719072"/>
            <a:ext cx="98755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1">
                <a:solidFill>
                  <a:srgbClr val="2B7465"/>
                </a:solidFill>
                <a:latin typeface="Aptos"/>
              </a:rPr>
              <a:t>Operational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496312"/>
            <a:ext cx="106527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2688" y="2715768"/>
            <a:ext cx="347472" cy="347472"/>
          </a:xfrm>
          <a:prstGeom prst="ellipse">
            <a:avLst/>
          </a:prstGeom>
          <a:solidFill>
            <a:srgbClr val="43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2724911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2633472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F2A2F"/>
                </a:solidFill>
                <a:latin typeface="Aptos"/>
              </a:rPr>
              <a:t>Prioritise high-opportunity categories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606040"/>
            <a:ext cx="5257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C5B60"/>
                </a:solidFill>
                <a:latin typeface="Aptos"/>
              </a:rPr>
              <a:t>Start with Toys, Clothing, Furniture and Groceries where the estimated opportunity is highest.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2743200"/>
            <a:ext cx="1078992" cy="292608"/>
          </a:xfrm>
          <a:prstGeom prst="roundRect">
            <a:avLst/>
          </a:prstGeom>
          <a:solidFill>
            <a:srgbClr val="E4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0" y="2798064"/>
            <a:ext cx="98755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1">
                <a:solidFill>
                  <a:srgbClr val="436584"/>
                </a:solidFill>
                <a:latin typeface="Aptos"/>
              </a:rPr>
              <a:t>Commercial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575304"/>
            <a:ext cx="106527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3794760"/>
            <a:ext cx="347472" cy="347472"/>
          </a:xfrm>
          <a:prstGeom prst="ellipse">
            <a:avLst/>
          </a:prstGeom>
          <a:solidFill>
            <a:srgbClr val="B88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3803904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3712464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F2A2F"/>
                </a:solidFill>
                <a:latin typeface="Aptos"/>
              </a:rPr>
              <a:t>Investigate high-stockout stores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685032"/>
            <a:ext cx="5257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C5B60"/>
                </a:solidFill>
                <a:latin typeface="Aptos"/>
              </a:rPr>
              <a:t>Review stock levels, sales and restocking patterns at S004, S005 and S002.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21240" y="3822191"/>
            <a:ext cx="1078992" cy="292608"/>
          </a:xfrm>
          <a:prstGeom prst="roundRect">
            <a:avLst/>
          </a:prstGeom>
          <a:solidFill>
            <a:srgbClr val="F4E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60" y="3877056"/>
            <a:ext cx="98755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1">
                <a:solidFill>
                  <a:srgbClr val="B88B42"/>
                </a:solidFill>
                <a:latin typeface="Aptos"/>
              </a:rPr>
              <a:t>Store operations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654296"/>
            <a:ext cx="106527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32688" y="4873752"/>
            <a:ext cx="347472" cy="347472"/>
          </a:xfrm>
          <a:prstGeom prst="ellipse">
            <a:avLst/>
          </a:prstGeom>
          <a:solidFill>
            <a:srgbClr val="A64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4882896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81328" y="4791456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F2A2F"/>
                </a:solidFill>
                <a:latin typeface="Aptos"/>
              </a:rPr>
              <a:t>Improve demand planning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4764024"/>
            <a:ext cx="5257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4C5B60"/>
                </a:solidFill>
                <a:latin typeface="Aptos"/>
              </a:rPr>
              <a:t>Use past sales and demand patterns to plan inventory levels more effectively.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21240" y="4901183"/>
            <a:ext cx="1078992" cy="292608"/>
          </a:xfrm>
          <a:prstGeom prst="roundRect">
            <a:avLst/>
          </a:prstGeom>
          <a:solidFill>
            <a:srgbClr val="F4E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66960" y="4956048"/>
            <a:ext cx="98755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80" b="1">
                <a:solidFill>
                  <a:srgbClr val="A64F4C"/>
                </a:solidFill>
                <a:latin typeface="Aptos"/>
              </a:rPr>
              <a:t>Planning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5852160"/>
            <a:ext cx="10652760" cy="411480"/>
          </a:xfrm>
          <a:prstGeom prst="roundRect">
            <a:avLst/>
          </a:prstGeom>
          <a:solidFill>
            <a:srgbClr val="1F2A2F"/>
          </a:solidFill>
          <a:ln w="10160">
            <a:solidFill>
              <a:srgbClr val="1F2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" y="5961888"/>
            <a:ext cx="10195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Aptos"/>
              </a:rPr>
              <a:t>The goal is not simply to carry more inventory — it is to place the right stock where demand is being missed.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73152" cy="493776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9669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A2F"/>
                </a:solidFill>
                <a:latin typeface="Aptos Display"/>
              </a:rPr>
              <a:t>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896112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758082"/>
                </a:solidFill>
                <a:latin typeface="Aptos"/>
              </a:rPr>
              <a:t>The analysis provides a practical way to prioritise inventory improvements.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438912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B7465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55664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758082"/>
                </a:solidFill>
                <a:latin typeface="Apto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55664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58082"/>
                </a:solidFill>
                <a:latin typeface="Aptos"/>
              </a:rPr>
              <a:t>FRESHMART  /  REVENUE LEAKAGE INVESTIGATION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457200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1907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B7465"/>
                </a:solidFill>
                <a:latin typeface="Aptos"/>
              </a:rPr>
              <a:t>ESTIMATED 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3383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F2A2F"/>
                </a:solidFill>
                <a:latin typeface="Aptos Display"/>
              </a:rPr>
              <a:t>21.54M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907792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4C5B60"/>
                </a:solidFill>
                <a:latin typeface="Aptos"/>
              </a:rPr>
              <a:t>Toys + Clothing + Furniture + Groceries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3584448"/>
            <a:ext cx="3611880" cy="146304"/>
          </a:xfrm>
          <a:prstGeom prst="rect">
            <a:avLst/>
          </a:prstGeom>
          <a:solidFill>
            <a:srgbClr val="DA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120" y="3584448"/>
            <a:ext cx="3337560" cy="146304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005072"/>
            <a:ext cx="3611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B7465"/>
                </a:solidFill>
                <a:latin typeface="Aptos"/>
              </a:rPr>
              <a:t>Estimated opportunity — not guaranteed recovered revenue.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754880"/>
            <a:ext cx="3611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758082"/>
                </a:solidFill>
                <a:latin typeface="Aptos"/>
              </a:rPr>
              <a:t>This number is useful for prioritisation, not as a forecast of future revenue.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141732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B7465"/>
                </a:solidFill>
                <a:latin typeface="Aptos"/>
              </a:rPr>
              <a:t>EXPECTED OPERATIONAL DIRECTION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1847088"/>
            <a:ext cx="51663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06440" y="1847088"/>
            <a:ext cx="54864" cy="713232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53328" y="1956816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F"/>
                </a:solidFill>
                <a:latin typeface="Aptos"/>
              </a:rPr>
              <a:t>Availability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1956816"/>
            <a:ext cx="3246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B60"/>
                </a:solidFill>
                <a:latin typeface="Aptos"/>
              </a:rPr>
              <a:t>More products available when demand exists.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2761488"/>
            <a:ext cx="51663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06440" y="2761488"/>
            <a:ext cx="54864" cy="713232"/>
          </a:xfrm>
          <a:prstGeom prst="rect">
            <a:avLst/>
          </a:prstGeom>
          <a:solidFill>
            <a:srgbClr val="43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53328" y="2871216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F"/>
                </a:solidFill>
                <a:latin typeface="Aptos"/>
              </a:rPr>
              <a:t>Sales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871216"/>
            <a:ext cx="3246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B60"/>
                </a:solidFill>
                <a:latin typeface="Aptos"/>
              </a:rPr>
              <a:t>More opportunity to convert existing customer demand.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3675887"/>
            <a:ext cx="51663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06440" y="3675887"/>
            <a:ext cx="54864" cy="713232"/>
          </a:xfrm>
          <a:prstGeom prst="rect">
            <a:avLst/>
          </a:prstGeom>
          <a:solidFill>
            <a:srgbClr val="B88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53328" y="3785615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F"/>
                </a:solidFill>
                <a:latin typeface="Aptos"/>
              </a:rPr>
              <a:t>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785615"/>
            <a:ext cx="3246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B60"/>
                </a:solidFill>
                <a:latin typeface="Aptos"/>
              </a:rPr>
              <a:t>Focused reviews where stockouts are most frequent.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06440" y="4590288"/>
            <a:ext cx="51663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06440" y="4590288"/>
            <a:ext cx="54864" cy="713232"/>
          </a:xfrm>
          <a:prstGeom prst="rect">
            <a:avLst/>
          </a:prstGeom>
          <a:solidFill>
            <a:srgbClr val="A64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53328" y="4700016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F"/>
                </a:solidFill>
                <a:latin typeface="Aptos"/>
              </a:rPr>
              <a:t>Planning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700016"/>
            <a:ext cx="3246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C5B60"/>
                </a:solidFill>
                <a:latin typeface="Aptos"/>
              </a:rPr>
              <a:t>Better alignment between inventory and demand.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84048"/>
            <a:ext cx="73152" cy="493776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9669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A2F"/>
                </a:solidFill>
                <a:latin typeface="Aptos Display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896112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758082"/>
                </a:solidFill>
                <a:latin typeface="Aptos"/>
              </a:rPr>
              <a:t>The project connects inventory evidence to a clear business response.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438912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B7465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55664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758082"/>
                </a:solidFill>
                <a:latin typeface="Apto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55664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58082"/>
                </a:solidFill>
                <a:latin typeface="Aptos"/>
              </a:rPr>
              <a:t>FRESHMART  /  REVENUE LEAKAGE INVESTIGATION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44752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F2A2F"/>
                </a:solidFill>
                <a:latin typeface="Aptos Display"/>
              </a:rPr>
              <a:t>FreshMart's issue is broader than a single product category.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148840"/>
            <a:ext cx="98755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C5B60"/>
                </a:solidFill>
                <a:latin typeface="Aptos"/>
              </a:rPr>
              <a:t>Stockouts and demand gaps appear across the business, while S004, S005 and S002 have particularly high stockout levels.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54680"/>
            <a:ext cx="324612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154680"/>
            <a:ext cx="3246120" cy="54864"/>
          </a:xfrm>
          <a:prstGeom prst="rect">
            <a:avLst/>
          </a:prstGeom>
          <a:solidFill>
            <a:srgbClr val="2B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56432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B7465"/>
                </a:solidFill>
                <a:latin typeface="Aptos"/>
              </a:rPr>
              <a:t>WHAT WE FOUND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F"/>
                </a:solidFill>
                <a:latin typeface="Aptos"/>
              </a:rPr>
              <a:t>Stockouts are spread across categories and stores.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154680"/>
            <a:ext cx="324612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3154680"/>
            <a:ext cx="3246120" cy="54864"/>
          </a:xfrm>
          <a:prstGeom prst="rect">
            <a:avLst/>
          </a:prstGeom>
          <a:solidFill>
            <a:srgbClr val="43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456432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436584"/>
                </a:solidFill>
                <a:latin typeface="Aptos"/>
              </a:rPr>
              <a:t>WHERE TO 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88620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F"/>
                </a:solidFill>
                <a:latin typeface="Aptos"/>
              </a:rPr>
              <a:t>Prioritise high-stockout stores and high-opportunity categories.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3154680"/>
            <a:ext cx="324612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1000" y="3154680"/>
            <a:ext cx="3246120" cy="54864"/>
          </a:xfrm>
          <a:prstGeom prst="rect">
            <a:avLst/>
          </a:prstGeom>
          <a:solidFill>
            <a:srgbClr val="B88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456432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B88B42"/>
                </a:solidFill>
                <a:latin typeface="Aptos"/>
              </a:rPr>
              <a:t>HOW TO IMPROVE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88620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F2A2F"/>
                </a:solidFill>
                <a:latin typeface="Aptos"/>
              </a:rPr>
              <a:t>Strengthen availability and demand-based inventory planning.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138928"/>
            <a:ext cx="10561320" cy="713232"/>
          </a:xfrm>
          <a:prstGeom prst="roundRect">
            <a:avLst/>
          </a:prstGeom>
          <a:solidFill>
            <a:srgbClr val="1F2A2F"/>
          </a:solidFill>
          <a:ln w="10160">
            <a:solidFill>
              <a:srgbClr val="1F2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358384"/>
            <a:ext cx="10104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Final takeaway: reduce missed sales by improving product availability where the analysis shows demand is not being met.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144768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58082"/>
                </a:solidFill>
                <a:latin typeface="Aptos"/>
              </a:rPr>
              <a:t>Python  •  SQL  •  Power BI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